
<file path=[Content_Types].xml><?xml version="1.0" encoding="utf-8"?>
<Types xmlns="http://schemas.openxmlformats.org/package/2006/content-types">
  <Default Extension="png" ContentType="image/png"/>
  <Default Extension="jfif" ContentType="image/jpe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6" r:id="rId2"/>
    <p:sldId id="258" r:id="rId3"/>
    <p:sldId id="260" r:id="rId4"/>
    <p:sldId id="280" r:id="rId5"/>
    <p:sldId id="272" r:id="rId6"/>
    <p:sldId id="259" r:id="rId7"/>
    <p:sldId id="277" r:id="rId8"/>
    <p:sldId id="273" r:id="rId9"/>
    <p:sldId id="262" r:id="rId10"/>
    <p:sldId id="274" r:id="rId11"/>
    <p:sldId id="267" r:id="rId12"/>
    <p:sldId id="270" r:id="rId13"/>
    <p:sldId id="263" r:id="rId14"/>
    <p:sldId id="278" r:id="rId15"/>
    <p:sldId id="279" r:id="rId16"/>
    <p:sldId id="27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E368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1E4AEA4-8DFA-4A89-87EB-49C32662AFE0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274" autoAdjust="0"/>
  </p:normalViewPr>
  <p:slideViewPr>
    <p:cSldViewPr>
      <p:cViewPr varScale="1">
        <p:scale>
          <a:sx n="87" d="100"/>
          <a:sy n="87" d="100"/>
        </p:scale>
        <p:origin x="528" y="58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3B725B-653D-4166-A8E9-72A38A1847CF}" type="datetimeFigureOut">
              <a:rPr lang="en-US"/>
              <a:t>12/14/2025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861E8E-D392-497B-BB21-122DD7C27CF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08353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3F64CD-0576-4A9A-BD06-7889D6E60BDC}" type="datetimeFigureOut">
              <a:rPr lang="en-US"/>
              <a:t>12/14/2025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55D449-B875-4B8D-8E66-224D27E54C9A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49979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gradFill flip="none" rotWithShape="1">
          <a:gsLst>
            <a:gs pos="0">
              <a:srgbClr val="D9D9D9"/>
            </a:gs>
            <a:gs pos="100000">
              <a:schemeClr val="bg1"/>
            </a:gs>
          </a:gsLst>
          <a:lin ang="81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6225" y="1828800"/>
            <a:ext cx="4098175" cy="3177380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6225" y="5181600"/>
            <a:ext cx="4098175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7" name="Picture 6" descr="EKG line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88688" y="-1"/>
            <a:ext cx="7000137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12/14/2025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75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Rectangle"/>
          <p:cNvSpPr/>
          <p:nvPr/>
        </p:nvSpPr>
        <p:spPr>
          <a:xfrm>
            <a:off x="265112" y="228600"/>
            <a:ext cx="11658600" cy="6400800"/>
          </a:xfrm>
          <a:prstGeom prst="rect">
            <a:avLst/>
          </a:prstGeom>
          <a:noFill/>
          <a:ln w="15875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1828800"/>
            <a:ext cx="7772400" cy="3177380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5181600"/>
            <a:ext cx="7772400" cy="685800"/>
          </a:xfrm>
        </p:spPr>
        <p:txBody>
          <a:bodyPr>
            <a:norm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6778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1825624"/>
            <a:ext cx="4800600" cy="45751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825624"/>
            <a:ext cx="4800600" cy="45751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12/14/2025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828799"/>
            <a:ext cx="4800600" cy="762000"/>
          </a:xfrm>
        </p:spPr>
        <p:txBody>
          <a:bodyPr anchor="ctr">
            <a:noAutofit/>
          </a:bodyPr>
          <a:lstStyle>
            <a:lvl1pPr marL="0" indent="0">
              <a:buNone/>
              <a:defRPr sz="2400" b="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6800" y="2590799"/>
            <a:ext cx="4800600" cy="381003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4600" y="1828799"/>
            <a:ext cx="4800600" cy="762000"/>
          </a:xfrm>
        </p:spPr>
        <p:txBody>
          <a:bodyPr anchor="ctr">
            <a:noAutofit/>
          </a:bodyPr>
          <a:lstStyle>
            <a:lvl1pPr marL="0" indent="0">
              <a:buNone/>
              <a:defRPr sz="2400" b="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4600" y="2590799"/>
            <a:ext cx="4800600" cy="381003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12/14/2025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12/14/2025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12/14/2025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descr="Rectangle"/>
          <p:cNvSpPr/>
          <p:nvPr/>
        </p:nvSpPr>
        <p:spPr>
          <a:xfrm>
            <a:off x="7008812" y="0"/>
            <a:ext cx="518001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 descr="Rectangle"/>
          <p:cNvSpPr/>
          <p:nvPr/>
        </p:nvSpPr>
        <p:spPr>
          <a:xfrm>
            <a:off x="7255668" y="228600"/>
            <a:ext cx="4686300" cy="6400800"/>
          </a:xfrm>
          <a:prstGeom prst="rect">
            <a:avLst/>
          </a:prstGeom>
          <a:noFill/>
          <a:ln w="15875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2700000" scaled="1"/>
              <a:tileRect/>
            </a:gra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32700" y="3200400"/>
            <a:ext cx="3932237" cy="17526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457201"/>
            <a:ext cx="5943600" cy="5943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32699" y="5029200"/>
            <a:ext cx="3932237" cy="137160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descr="Rectangle"/>
          <p:cNvSpPr/>
          <p:nvPr/>
        </p:nvSpPr>
        <p:spPr>
          <a:xfrm>
            <a:off x="7008812" y="0"/>
            <a:ext cx="518001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 descr="Rectangle"/>
          <p:cNvSpPr/>
          <p:nvPr/>
        </p:nvSpPr>
        <p:spPr>
          <a:xfrm>
            <a:off x="7255668" y="228600"/>
            <a:ext cx="4686300" cy="6400800"/>
          </a:xfrm>
          <a:prstGeom prst="rect">
            <a:avLst/>
          </a:prstGeom>
          <a:noFill/>
          <a:ln w="15875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2700000" scaled="1"/>
              <a:tileRect/>
            </a:gra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35240" y="3200400"/>
            <a:ext cx="3932237" cy="17526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1" y="0"/>
            <a:ext cx="7008810" cy="6857999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35240" y="5029200"/>
            <a:ext cx="3932237" cy="137464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77249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12/14/2025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Rectangle"/>
          <p:cNvSpPr/>
          <p:nvPr/>
        </p:nvSpPr>
        <p:spPr>
          <a:xfrm>
            <a:off x="9982200" y="0"/>
            <a:ext cx="22098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58399" y="457201"/>
            <a:ext cx="2057401" cy="5943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457200"/>
            <a:ext cx="9067800" cy="5943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12/14/2025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D9D9D9"/>
            </a:gs>
            <a:gs pos="100000">
              <a:schemeClr val="bg1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d bar" descr="Red bar"/>
          <p:cNvSpPr/>
          <p:nvPr/>
        </p:nvSpPr>
        <p:spPr>
          <a:xfrm>
            <a:off x="1" y="1"/>
            <a:ext cx="12188824" cy="1524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99220"/>
            <a:ext cx="10058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1828799"/>
            <a:ext cx="9144000" cy="4572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481760"/>
            <a:ext cx="7848600" cy="2397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067800" y="6465885"/>
            <a:ext cx="1066800" cy="2397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37CC0096-1860-4642-9CD2-0079EA5E7CD1}" type="datetimeFigureOut">
              <a:rPr lang="en-US" smtClean="0"/>
              <a:pPr/>
              <a:t>12/14/2025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481760"/>
            <a:ext cx="838200" cy="2397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SzPct val="100000"/>
        <a:buFont typeface="Arial" pitchFamily="34" charset="0"/>
        <a:buChar char="▪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85800" indent="-18288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68680" indent="-182563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51560" indent="-18288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234440" indent="-182880" algn="l" defTabSz="914400" rtl="0" eaLnBrk="1" latinLnBrk="0" hangingPunct="1">
        <a:lnSpc>
          <a:spcPct val="90000"/>
        </a:lnSpc>
        <a:spcBef>
          <a:spcPts val="400"/>
        </a:spcBef>
        <a:buSzPct val="100000"/>
        <a:buFont typeface="Arial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417320" indent="-182880" algn="l" defTabSz="914400" rtl="0" eaLnBrk="1" latinLnBrk="0" hangingPunct="1">
        <a:lnSpc>
          <a:spcPct val="90000"/>
        </a:lnSpc>
        <a:spcBef>
          <a:spcPts val="400"/>
        </a:spcBef>
        <a:buSzPct val="100000"/>
        <a:buFont typeface="Arial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600200" indent="-182880" algn="l" defTabSz="914400" rtl="0" eaLnBrk="1" latinLnBrk="0" hangingPunct="1">
        <a:lnSpc>
          <a:spcPct val="90000"/>
        </a:lnSpc>
        <a:spcBef>
          <a:spcPts val="400"/>
        </a:spcBef>
        <a:buSzPct val="100000"/>
        <a:buFont typeface="Arial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83080" indent="-182880" algn="l" defTabSz="914400" rtl="0" eaLnBrk="1" latinLnBrk="0" hangingPunct="1">
        <a:lnSpc>
          <a:spcPct val="90000"/>
        </a:lnSpc>
        <a:spcBef>
          <a:spcPts val="400"/>
        </a:spcBef>
        <a:buSzPct val="100000"/>
        <a:buFont typeface="Arial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fif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6225" y="1828800"/>
            <a:ext cx="4555375" cy="2362200"/>
          </a:xfrm>
        </p:spPr>
        <p:txBody>
          <a:bodyPr/>
          <a:lstStyle/>
          <a:p>
            <a:r>
              <a:rPr lang="en-US" b="1" spc="-88" dirty="0" err="1" smtClean="0">
                <a:solidFill>
                  <a:srgbClr val="FC8019"/>
                </a:solidFill>
                <a:latin typeface="IBM Plex Serif SemiBold" panose="00000700000000000000" pitchFamily="2" charset="0"/>
              </a:rPr>
              <a:t>Swiggy</a:t>
            </a:r>
            <a:r>
              <a:rPr lang="en-US" dirty="0" smtClean="0">
                <a:solidFill>
                  <a:srgbClr val="E36803"/>
                </a:solidFill>
              </a:rPr>
              <a:t/>
            </a:r>
            <a:br>
              <a:rPr lang="en-US" dirty="0" smtClean="0">
                <a:solidFill>
                  <a:srgbClr val="E36803"/>
                </a:solidFill>
              </a:rPr>
            </a:br>
            <a:r>
              <a:rPr lang="en-US" b="1" spc="-88" dirty="0">
                <a:latin typeface="IBM Plex Serif SemiBold" panose="00000700000000000000" pitchFamily="2" charset="0"/>
              </a:rPr>
              <a:t>Analytics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6225" y="4267200"/>
            <a:ext cx="4098175" cy="685800"/>
          </a:xfrm>
        </p:spPr>
        <p:txBody>
          <a:bodyPr/>
          <a:lstStyle/>
          <a:p>
            <a:r>
              <a:rPr lang="en-US" dirty="0" smtClean="0"/>
              <a:t> BY Pooja </a:t>
            </a:r>
            <a:r>
              <a:rPr lang="en-US" dirty="0" err="1" smtClean="0"/>
              <a:t>Kasar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0"/>
            <a:ext cx="70104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141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50059"/>
            <a:ext cx="10058400" cy="1325563"/>
          </a:xfrm>
        </p:spPr>
        <p:txBody>
          <a:bodyPr/>
          <a:lstStyle/>
          <a:p>
            <a:r>
              <a:rPr lang="en-US" dirty="0"/>
              <a:t>Project Summary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B25B88-5166-AC0B-FC70-4302141C74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828799"/>
            <a:ext cx="11582400" cy="4724401"/>
          </a:xfrm>
        </p:spPr>
        <p:txBody>
          <a:bodyPr/>
          <a:lstStyle/>
          <a:p>
            <a:pPr marL="0" indent="0">
              <a:buNone/>
            </a:pPr>
            <a:r>
              <a:rPr lang="en-IN" sz="1400" b="1" dirty="0">
                <a:solidFill>
                  <a:srgbClr val="C00000"/>
                </a:solidFill>
              </a:rPr>
              <a:t>Objective: </a:t>
            </a:r>
            <a:r>
              <a:rPr lang="en-GB" sz="1400" dirty="0"/>
              <a:t>To </a:t>
            </a:r>
            <a:r>
              <a:rPr lang="en-GB" sz="1400" dirty="0" err="1"/>
              <a:t>analyze</a:t>
            </a:r>
            <a:r>
              <a:rPr lang="en-GB" sz="1400" dirty="0"/>
              <a:t> </a:t>
            </a:r>
            <a:r>
              <a:rPr lang="en-GB" sz="1400" dirty="0" err="1"/>
              <a:t>Swiggy’s</a:t>
            </a:r>
            <a:r>
              <a:rPr lang="en-GB" sz="1400" dirty="0"/>
              <a:t> restaurant, customer, and delivery partner data in order to evaluate operational performance and identify improvements in customer experience, delivery efficiency, and overall business growth.</a:t>
            </a:r>
            <a:r>
              <a:rPr lang="en-GB" sz="1400" dirty="0">
                <a:solidFill>
                  <a:schemeClr val="bg1"/>
                </a:solidFill>
              </a:rPr>
              <a:t> </a:t>
            </a:r>
            <a:endParaRPr lang="en-GB" sz="1400" dirty="0" smtClean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400" b="1" dirty="0" smtClean="0">
                <a:solidFill>
                  <a:srgbClr val="C00000"/>
                </a:solidFill>
              </a:rPr>
              <a:t>Data Used</a:t>
            </a:r>
            <a:r>
              <a:rPr lang="en-GB" sz="1400" dirty="0" smtClean="0"/>
              <a:t>: The </a:t>
            </a:r>
            <a:r>
              <a:rPr lang="en-GB" sz="1400" dirty="0"/>
              <a:t>dataset consists of </a:t>
            </a:r>
            <a:r>
              <a:rPr lang="en-GB" sz="1400" dirty="0" err="1"/>
              <a:t>Swiggy</a:t>
            </a:r>
            <a:r>
              <a:rPr lang="en-GB" sz="1400" dirty="0"/>
              <a:t> order and operational data collected from 5 restaurant locations—Delhi, Noida, Gurgaon, , Faridabad, and Ghaziabad. The data covers the period from 2024 to 2025 and includes customer details, order transactions, menu information, and delivery partner performance record.</a:t>
            </a:r>
            <a:endParaRPr lang="en-GB" sz="14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sz="1400" b="1" dirty="0" smtClean="0">
                <a:solidFill>
                  <a:srgbClr val="C00000"/>
                </a:solidFill>
              </a:rPr>
              <a:t>Tools </a:t>
            </a:r>
            <a:r>
              <a:rPr lang="en-IN" sz="1400" b="1" dirty="0">
                <a:solidFill>
                  <a:srgbClr val="C00000"/>
                </a:solidFill>
              </a:rPr>
              <a:t>Used: </a:t>
            </a:r>
          </a:p>
          <a:p>
            <a:pPr marL="0" indent="0">
              <a:buNone/>
            </a:pPr>
            <a:endParaRPr lang="en-IN" sz="14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C00000"/>
                </a:solidFill>
              </a:rPr>
              <a:t>Key Features of the Dashboard:</a:t>
            </a:r>
          </a:p>
          <a:p>
            <a:r>
              <a:rPr lang="en-US" sz="1400" dirty="0" smtClean="0"/>
              <a:t>Interactive filters </a:t>
            </a:r>
            <a:r>
              <a:rPr lang="en-GB" sz="1400" dirty="0" smtClean="0"/>
              <a:t>[ </a:t>
            </a:r>
            <a:r>
              <a:rPr lang="en-GB" sz="1400" dirty="0"/>
              <a:t>Filters by location, restaurant, customer type, delivery partner, order status, and cuisine category for drill-down analysis</a:t>
            </a:r>
            <a:r>
              <a:rPr lang="en-GB" sz="1400" dirty="0" smtClean="0"/>
              <a:t>.]</a:t>
            </a:r>
            <a:endParaRPr lang="en-GB" sz="1400" dirty="0"/>
          </a:p>
          <a:p>
            <a:r>
              <a:rPr lang="en-US" sz="1400" dirty="0" smtClean="0"/>
              <a:t>KPIs displayed: [</a:t>
            </a:r>
            <a:r>
              <a:rPr lang="en-US" sz="1400" dirty="0" smtClean="0">
                <a:ea typeface="Times New Roman" panose="02020603050405020304" pitchFamily="18" charset="0"/>
                <a:cs typeface="Arial" panose="020B0604020202020204" pitchFamily="34" charset="0"/>
              </a:rPr>
              <a:t>Total </a:t>
            </a:r>
            <a:r>
              <a:rPr lang="en-US" sz="1400" dirty="0">
                <a:ea typeface="Times New Roman" panose="02020603050405020304" pitchFamily="18" charset="0"/>
                <a:cs typeface="Arial" panose="020B0604020202020204" pitchFamily="34" charset="0"/>
              </a:rPr>
              <a:t>Orders, Total Revenue, Total Customers, Active Delivery Agents, Average Delivery Time, Top Food Categories, Top Performing Restaurants </a:t>
            </a:r>
            <a:r>
              <a:rPr lang="en-US" sz="1400" dirty="0" smtClean="0">
                <a:ea typeface="Times New Roman" panose="02020603050405020304" pitchFamily="18" charset="0"/>
                <a:cs typeface="Arial" panose="020B0604020202020204" pitchFamily="34" charset="0"/>
              </a:rPr>
              <a:t>etc.]</a:t>
            </a:r>
            <a:endParaRPr lang="en-US" sz="1400" dirty="0"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r>
              <a:rPr lang="en-US" sz="1400" dirty="0" smtClean="0"/>
              <a:t>Visuals used: [Bar chart, Column Chart, Line, Graph, Map, pie Chart etc.]</a:t>
            </a:r>
          </a:p>
          <a:p>
            <a:pPr marL="0" indent="0">
              <a:buNone/>
            </a:pPr>
            <a:r>
              <a:rPr lang="en-US" sz="1400" b="1" dirty="0" smtClean="0">
                <a:solidFill>
                  <a:srgbClr val="C00000"/>
                </a:solidFill>
              </a:rPr>
              <a:t>Outcome</a:t>
            </a:r>
            <a:r>
              <a:rPr lang="en-US" sz="1400" b="1" dirty="0">
                <a:solidFill>
                  <a:srgbClr val="C00000"/>
                </a:solidFill>
              </a:rPr>
              <a:t>: </a:t>
            </a:r>
            <a:r>
              <a:rPr lang="en-GB" sz="1400" dirty="0"/>
              <a:t>To help </a:t>
            </a:r>
            <a:r>
              <a:rPr lang="en-GB" sz="1400" dirty="0" err="1"/>
              <a:t>Swiggy</a:t>
            </a:r>
            <a:r>
              <a:rPr lang="en-GB" sz="1400" dirty="0"/>
              <a:t> and restaurant management identify current ordering trends and operational gaps, enabling improvements in customer experience, delivery efficiency, and overall service performance.</a:t>
            </a:r>
            <a:r>
              <a:rPr lang="en-US" sz="1400" b="1" dirty="0" smtClean="0">
                <a:solidFill>
                  <a:srgbClr val="C00000"/>
                </a:solidFill>
              </a:rPr>
              <a:t> </a:t>
            </a:r>
            <a:endParaRPr lang="en-US" sz="14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IN" sz="1800" b="1" dirty="0">
              <a:solidFill>
                <a:srgbClr val="C0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05754AE-9DDA-80C6-892F-A95F2910B5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3376474"/>
            <a:ext cx="1490514" cy="635644"/>
          </a:xfrm>
          <a:prstGeom prst="rect">
            <a:avLst/>
          </a:prstGeom>
        </p:spPr>
      </p:pic>
      <p:pic>
        <p:nvPicPr>
          <p:cNvPr id="9" name="Picture 2" descr="Image result for tableau">
            <a:extLst>
              <a:ext uri="{FF2B5EF4-FFF2-40B4-BE49-F238E27FC236}">
                <a16:creationId xmlns:a16="http://schemas.microsoft.com/office/drawing/2014/main" id="{819444BA-22E1-50EB-5D2C-423738AAC2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2828" y="3343730"/>
            <a:ext cx="834686" cy="483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MySQL round logo transparent PNG - StickPNG">
            <a:extLst>
              <a:ext uri="{FF2B5EF4-FFF2-40B4-BE49-F238E27FC236}">
                <a16:creationId xmlns:a16="http://schemas.microsoft.com/office/drawing/2014/main" id="{CC9D12C4-EE1C-6F44-76AD-A5FF8A2402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3442948"/>
            <a:ext cx="502696" cy="502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A logo of a company&#10;&#10;AI-generated content may be incorrect.">
            <a:extLst>
              <a:ext uri="{FF2B5EF4-FFF2-40B4-BE49-F238E27FC236}">
                <a16:creationId xmlns:a16="http://schemas.microsoft.com/office/drawing/2014/main" id="{D9C91345-B5EC-5C07-9D43-7156FDEA599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1983" y="3418367"/>
            <a:ext cx="548034" cy="548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620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KPI List - </a:t>
            </a:r>
            <a:r>
              <a:rPr lang="en-US" sz="2200" spc="-18" dirty="0">
                <a:solidFill>
                  <a:srgbClr val="FFFFFF">
                    <a:alpha val="100000"/>
                  </a:srgbClr>
                </a:solidFill>
                <a:latin typeface="IBM Plex Sans" panose="00000700000000000000" pitchFamily="2" charset="0"/>
              </a:rPr>
              <a:t>Key performance indicators and their business relevance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" y="1600200"/>
            <a:ext cx="11887200" cy="515858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sz="1600" b="1" dirty="0" smtClean="0"/>
              <a:t>1. </a:t>
            </a:r>
            <a:r>
              <a:rPr lang="en-GB" sz="1900" dirty="0" smtClean="0"/>
              <a:t>Total Orders </a:t>
            </a:r>
            <a:r>
              <a:rPr lang="en-GB" sz="1600" dirty="0" smtClean="0"/>
              <a:t>– </a:t>
            </a:r>
            <a:r>
              <a:rPr lang="en-GB" sz="1500" dirty="0" smtClean="0"/>
              <a:t>Shows the overall number of orders placed across all locations.</a:t>
            </a:r>
          </a:p>
          <a:p>
            <a:pPr marL="0" indent="0">
              <a:buNone/>
            </a:pPr>
            <a:r>
              <a:rPr lang="en-GB" sz="1600" b="1" dirty="0" smtClean="0"/>
              <a:t>2</a:t>
            </a:r>
            <a:r>
              <a:rPr lang="en-GB" sz="1600" b="1" dirty="0"/>
              <a:t>. </a:t>
            </a:r>
            <a:r>
              <a:rPr lang="en-GB" sz="1900" dirty="0"/>
              <a:t>Total Revenue </a:t>
            </a:r>
            <a:r>
              <a:rPr lang="en-GB" sz="1600" dirty="0"/>
              <a:t>– Measures total earnings generated from all completed orders.</a:t>
            </a:r>
          </a:p>
          <a:p>
            <a:pPr marL="0" indent="0">
              <a:buNone/>
            </a:pPr>
            <a:r>
              <a:rPr lang="en-GB" sz="1600" b="1" dirty="0"/>
              <a:t>3. </a:t>
            </a:r>
            <a:r>
              <a:rPr lang="en-GB" sz="1900" dirty="0"/>
              <a:t>Average Order Value (AOV)</a:t>
            </a:r>
            <a:r>
              <a:rPr lang="en-GB" sz="1600" dirty="0"/>
              <a:t> – Indicates the average amount spent per order.</a:t>
            </a:r>
          </a:p>
          <a:p>
            <a:pPr marL="0" indent="0">
              <a:buNone/>
            </a:pPr>
            <a:r>
              <a:rPr lang="en-GB" sz="1600" b="1" dirty="0"/>
              <a:t>4. </a:t>
            </a:r>
            <a:r>
              <a:rPr lang="en-GB" sz="1900" dirty="0"/>
              <a:t>Customer Retention Rate </a:t>
            </a:r>
            <a:r>
              <a:rPr lang="en-GB" sz="1600" dirty="0"/>
              <a:t>– Tracks how many customers return to place repeat orders.</a:t>
            </a:r>
          </a:p>
          <a:p>
            <a:pPr marL="0" indent="0">
              <a:buNone/>
            </a:pPr>
            <a:r>
              <a:rPr lang="en-GB" sz="1600" b="1" dirty="0"/>
              <a:t>5. </a:t>
            </a:r>
            <a:r>
              <a:rPr lang="en-GB" sz="1900" dirty="0"/>
              <a:t>New vs Returning Customers </a:t>
            </a:r>
            <a:r>
              <a:rPr lang="en-GB" sz="1600" dirty="0"/>
              <a:t>– Compares first-time customers with repeat users.</a:t>
            </a:r>
          </a:p>
          <a:p>
            <a:pPr marL="0" indent="0">
              <a:buNone/>
            </a:pPr>
            <a:r>
              <a:rPr lang="en-GB" sz="1600" b="1" dirty="0" smtClean="0"/>
              <a:t>6</a:t>
            </a:r>
            <a:r>
              <a:rPr lang="en-GB" sz="1600" b="1" dirty="0"/>
              <a:t>. </a:t>
            </a:r>
            <a:r>
              <a:rPr lang="en-GB" sz="1900" dirty="0"/>
              <a:t>On-Time Delivery % </a:t>
            </a:r>
            <a:r>
              <a:rPr lang="en-GB" sz="1600" dirty="0"/>
              <a:t>– Measures how many orders were delivered within the expected time.</a:t>
            </a:r>
          </a:p>
          <a:p>
            <a:pPr marL="0" indent="0">
              <a:buNone/>
            </a:pPr>
            <a:r>
              <a:rPr lang="en-GB" sz="1600" b="1" dirty="0"/>
              <a:t>7. </a:t>
            </a:r>
            <a:r>
              <a:rPr lang="en-GB" sz="1900" dirty="0"/>
              <a:t>Average Delivery Time – </a:t>
            </a:r>
            <a:r>
              <a:rPr lang="en-GB" sz="1600" dirty="0"/>
              <a:t>Shows the average time taken to deliver an order.</a:t>
            </a:r>
          </a:p>
          <a:p>
            <a:pPr marL="0" indent="0">
              <a:buNone/>
            </a:pPr>
            <a:r>
              <a:rPr lang="en-GB" sz="1900" dirty="0"/>
              <a:t>8. Order Cancellation Rate </a:t>
            </a:r>
            <a:r>
              <a:rPr lang="en-GB" sz="1600" dirty="0"/>
              <a:t>– Percentage of orders cancelled due to delay, customer reason, or restaurant issue.</a:t>
            </a:r>
          </a:p>
          <a:p>
            <a:pPr marL="0" indent="0">
              <a:buNone/>
            </a:pPr>
            <a:r>
              <a:rPr lang="en-GB" sz="1600" b="1" dirty="0"/>
              <a:t>9. </a:t>
            </a:r>
            <a:r>
              <a:rPr lang="en-GB" sz="1900" dirty="0"/>
              <a:t>Restaurant Rating </a:t>
            </a:r>
            <a:r>
              <a:rPr lang="en-GB" sz="1900" dirty="0" smtClean="0"/>
              <a:t> </a:t>
            </a:r>
            <a:r>
              <a:rPr lang="en-GB" sz="1600" dirty="0"/>
              <a:t>– Average rating given to restaurants based on customer feedback.</a:t>
            </a:r>
          </a:p>
          <a:p>
            <a:pPr marL="0" indent="0">
              <a:buNone/>
            </a:pPr>
            <a:r>
              <a:rPr lang="en-GB" sz="1600" b="1" dirty="0"/>
              <a:t>10. </a:t>
            </a:r>
            <a:r>
              <a:rPr lang="en-GB" sz="1900" dirty="0"/>
              <a:t>Top-Selling Items </a:t>
            </a:r>
            <a:r>
              <a:rPr lang="en-GB" sz="1600" dirty="0"/>
              <a:t>– Identifies menu items with the highest sales.</a:t>
            </a:r>
          </a:p>
          <a:p>
            <a:pPr marL="0" indent="0">
              <a:buNone/>
            </a:pPr>
            <a:r>
              <a:rPr lang="en-GB" sz="1600" b="1" dirty="0"/>
              <a:t>11. </a:t>
            </a:r>
            <a:r>
              <a:rPr lang="en-GB" sz="1900" dirty="0"/>
              <a:t>Delivery Partner Performance Score </a:t>
            </a:r>
            <a:r>
              <a:rPr lang="en-GB" sz="1600" dirty="0"/>
              <a:t>– Evaluates partner efficiency based on delivery time and customer rating.</a:t>
            </a:r>
          </a:p>
          <a:p>
            <a:pPr marL="0" indent="0">
              <a:buNone/>
            </a:pPr>
            <a:r>
              <a:rPr lang="en-GB" sz="1600" b="1" dirty="0"/>
              <a:t>12. </a:t>
            </a:r>
            <a:r>
              <a:rPr lang="en-GB" sz="1900" dirty="0"/>
              <a:t>Location-wise Revenue </a:t>
            </a:r>
            <a:r>
              <a:rPr lang="en-GB" sz="1600" dirty="0"/>
              <a:t>– Shows revenue contribution from each city (Delhi, Noida, Gurgaon, Faridabad, Ghaziabad).</a:t>
            </a:r>
          </a:p>
          <a:p>
            <a:pPr marL="457200" indent="-457200">
              <a:buFont typeface="+mj-lt"/>
              <a:buAutoNum type="arabicPeriod"/>
            </a:pP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738627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 descr="A diagram of a restaurant&#10;&#10;AI-generated content may be incorrect.">
            <a:extLst>
              <a:ext uri="{FF2B5EF4-FFF2-40B4-BE49-F238E27FC236}">
                <a16:creationId xmlns:a16="http://schemas.microsoft.com/office/drawing/2014/main" id="{B2323075-1D67-25AA-1989-5E11D7991A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64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311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BE6219F-C9EE-0DB9-AB90-74710454D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What </a:t>
            </a:r>
            <a:r>
              <a:rPr lang="en-IN" dirty="0"/>
              <a:t>did in Excel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D1287DC-6481-1DB2-0E0F-436C978AF2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Data Collection &amp; Preparation</a:t>
            </a:r>
            <a:br>
              <a:rPr lang="en-IN" b="1" dirty="0"/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965A3-DF95-D8B7-3930-9E51BF74FB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66800" y="2590799"/>
            <a:ext cx="4800600" cy="3962401"/>
          </a:xfrm>
        </p:spPr>
        <p:txBody>
          <a:bodyPr>
            <a:normAutofit lnSpcReduction="10000"/>
          </a:bodyPr>
          <a:lstStyle/>
          <a:p>
            <a:r>
              <a:rPr lang="en-GB" sz="2000" dirty="0"/>
              <a:t>Collected order, customer, restaurant, and delivery partner data from </a:t>
            </a:r>
            <a:r>
              <a:rPr lang="en-GB" sz="2000" dirty="0" err="1"/>
              <a:t>Swiggy</a:t>
            </a:r>
            <a:r>
              <a:rPr lang="en-GB" sz="2000" dirty="0"/>
              <a:t> datasets for 2024–2025 across </a:t>
            </a:r>
            <a:r>
              <a:rPr lang="en-GB" sz="2000" dirty="0" smtClean="0"/>
              <a:t>locations</a:t>
            </a:r>
            <a:r>
              <a:rPr lang="en-GB" sz="2000" dirty="0"/>
              <a:t>: Delhi, Noida, Gurgaon, Faridabad, and Ghaziabad</a:t>
            </a:r>
            <a:r>
              <a:rPr lang="en-GB" sz="2000" dirty="0" smtClean="0"/>
              <a:t>.</a:t>
            </a:r>
            <a:endParaRPr lang="en-US" sz="2000" dirty="0"/>
          </a:p>
          <a:p>
            <a:r>
              <a:rPr lang="en-GB" sz="2000" dirty="0"/>
              <a:t>Performed initial cleaning by removing duplicates, handling missing values, correcting date/time formats, and standardizing dataset fields</a:t>
            </a:r>
            <a:r>
              <a:rPr lang="en-GB" sz="2000" dirty="0" smtClean="0"/>
              <a:t>.</a:t>
            </a:r>
          </a:p>
          <a:p>
            <a:r>
              <a:rPr lang="en-GB" sz="2000" dirty="0"/>
              <a:t>Used Excel formulas and pivot tables to summarize raw data such as total orders, revenue, customer counts, and delivery performance </a:t>
            </a:r>
            <a:r>
              <a:rPr lang="en-GB" sz="2000" dirty="0" smtClean="0"/>
              <a:t>metrics.</a:t>
            </a:r>
            <a:endParaRPr lang="en-IN" sz="2000" dirty="0"/>
          </a:p>
          <a:p>
            <a:endParaRPr lang="en-IN" sz="200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C5F33D0-EB89-DA2E-349C-37A6325D2E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b="1" dirty="0"/>
              <a:t>Data Analysis &amp; Visualization</a:t>
            </a:r>
            <a:br>
              <a:rPr lang="en-IN" b="1" dirty="0"/>
            </a:br>
            <a:endParaRPr lang="en-IN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F38F03-72BE-3689-6E4D-C4936F2D683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GB" sz="2000" dirty="0" err="1"/>
              <a:t>Analyzed</a:t>
            </a:r>
            <a:r>
              <a:rPr lang="en-GB" sz="2000" dirty="0"/>
              <a:t> key metrics such as order trends, customer segments, restaurant performance, and delivery timings</a:t>
            </a:r>
            <a:r>
              <a:rPr lang="en-US" sz="2000" dirty="0" smtClean="0"/>
              <a:t>.</a:t>
            </a:r>
            <a:endParaRPr lang="en-US" sz="2000" dirty="0"/>
          </a:p>
          <a:p>
            <a:r>
              <a:rPr lang="en-GB" sz="2000" dirty="0"/>
              <a:t>Created charts to visualize top-selling items, peak order hours, location-wise demand, and cancellation patterns</a:t>
            </a:r>
            <a:r>
              <a:rPr lang="en-US" sz="2000" dirty="0" smtClean="0"/>
              <a:t>.</a:t>
            </a:r>
            <a:endParaRPr lang="en-US" sz="2000" dirty="0"/>
          </a:p>
          <a:p>
            <a:r>
              <a:rPr lang="en-GB" sz="2000" dirty="0"/>
              <a:t>Identified preliminary patterns and insights to support deeper analysis in SQL, Power BI, and Tableau.</a:t>
            </a:r>
            <a:r>
              <a:rPr lang="en-US" sz="2000" dirty="0" smtClean="0"/>
              <a:t>.</a:t>
            </a:r>
            <a:endParaRPr lang="en-US" sz="2000" dirty="0"/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97875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Excel </a:t>
            </a:r>
            <a:r>
              <a:rPr lang="en-US" dirty="0" smtClean="0"/>
              <a:t>Dashboard 1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600200"/>
            <a:ext cx="12115800" cy="5145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826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Excel Dashboard </a:t>
            </a:r>
            <a:r>
              <a:rPr lang="en-US" dirty="0" smtClean="0"/>
              <a:t>2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600200"/>
            <a:ext cx="12039600" cy="5149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743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9E641-112B-0429-2205-F3BF2A2B6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/>
            </a:r>
            <a:br>
              <a:rPr lang="en-IN" b="1" dirty="0"/>
            </a:br>
            <a:r>
              <a:rPr lang="en-IN" b="1" dirty="0"/>
              <a:t>Data Visualization &amp; Insights (Tableau)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369A1-255E-5CD7-E717-A371E5BD6E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Connected </a:t>
            </a:r>
            <a:r>
              <a:rPr lang="en-GB" dirty="0" err="1"/>
              <a:t>Swiggy</a:t>
            </a:r>
            <a:r>
              <a:rPr lang="en-GB" dirty="0"/>
              <a:t> datasets to Tableau for detailed visual analysis of orders, customers, restaurants, and delivery partners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GB" dirty="0"/>
              <a:t>Built dashboards showing restaurant performance, location-wise order trends, and customer </a:t>
            </a:r>
            <a:r>
              <a:rPr lang="en-GB" dirty="0" err="1"/>
              <a:t>behavior</a:t>
            </a:r>
            <a:r>
              <a:rPr lang="en-GB" dirty="0"/>
              <a:t> patterns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GB" dirty="0"/>
              <a:t>Combined data from multiple sources (orders, menu, customers, delivery agents) for real-time, comprehensive analysis</a:t>
            </a:r>
            <a:r>
              <a:rPr lang="en-GB" dirty="0" smtClean="0"/>
              <a:t>.</a:t>
            </a:r>
          </a:p>
          <a:p>
            <a:r>
              <a:rPr lang="en-US" dirty="0" smtClean="0"/>
              <a:t>Calculated </a:t>
            </a:r>
            <a:r>
              <a:rPr lang="en-US" dirty="0"/>
              <a:t>Fields has been Created to custom metrics and KPIs without needing extensive coding.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1395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99221"/>
            <a:ext cx="10058400" cy="891380"/>
          </a:xfrm>
        </p:spPr>
        <p:txBody>
          <a:bodyPr/>
          <a:lstStyle/>
          <a:p>
            <a:r>
              <a:rPr lang="en-US" b="1" spc="-18" dirty="0">
                <a:solidFill>
                  <a:srgbClr val="FFFFFF">
                    <a:alpha val="100000"/>
                  </a:srgbClr>
                </a:solidFill>
                <a:latin typeface="IBM Plex Sans" panose="00000700000000000000" pitchFamily="2" charset="0"/>
              </a:rPr>
              <a:t>Tableau Dashboard</a:t>
            </a:r>
            <a:endParaRPr lang="en-US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7D05B54-E172-12A6-C2C4-DD1ED5E9FA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600200"/>
            <a:ext cx="12039600" cy="5125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673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783E3-24DD-0C9B-C45E-35C73D8BB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/>
            </a:r>
            <a:br>
              <a:rPr lang="en-IN" b="1" dirty="0"/>
            </a:br>
            <a:r>
              <a:rPr lang="en-IN" b="1" dirty="0"/>
              <a:t>Data Retrieval &amp; Management (SQL)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1171D5-71E1-3AD2-9D28-64F138A15C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Used SQL queries to efficiently extract and analyze large datasets.</a:t>
            </a:r>
          </a:p>
          <a:p>
            <a:r>
              <a:rPr lang="en-US" dirty="0"/>
              <a:t>SQL streamlined data management and enabled complex analyses.</a:t>
            </a:r>
          </a:p>
          <a:p>
            <a:r>
              <a:rPr lang="en-US" dirty="0"/>
              <a:t>Data Validation to ensures data integrity by enforcing constraints and validation rules directly in the database.</a:t>
            </a:r>
          </a:p>
          <a:p>
            <a:r>
              <a:rPr lang="en-GB" dirty="0"/>
              <a:t>Imported and structured raw </a:t>
            </a:r>
            <a:r>
              <a:rPr lang="en-GB" dirty="0" err="1"/>
              <a:t>Swiggy</a:t>
            </a:r>
            <a:r>
              <a:rPr lang="en-GB" dirty="0"/>
              <a:t> datasets into SQL tables for customers, orders, menu, and delivery </a:t>
            </a:r>
            <a:r>
              <a:rPr lang="en-GB" dirty="0" smtClean="0"/>
              <a:t>partners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GB" dirty="0"/>
              <a:t>SQL queries using joins, aggregations, subqueries, and window functions to extract meaningful </a:t>
            </a:r>
            <a:r>
              <a:rPr lang="en-GB" dirty="0" smtClean="0"/>
              <a:t>insights.</a:t>
            </a:r>
          </a:p>
          <a:p>
            <a:r>
              <a:rPr lang="en-US" dirty="0" smtClean="0"/>
              <a:t>Aggregations </a:t>
            </a:r>
            <a:r>
              <a:rPr lang="en-US" dirty="0"/>
              <a:t>&amp; Grouping to perform aggregations such as SUM, AVG, COUNT with GROUP BY clauses to summarize the datasets.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0546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CCCB2-562B-1B0D-404B-C80A4F6A6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25471-C225-AF9E-103A-76D44AB5C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pc="-18" dirty="0">
                <a:solidFill>
                  <a:srgbClr val="FFFFFF">
                    <a:alpha val="100000"/>
                  </a:srgbClr>
                </a:solidFill>
                <a:latin typeface="IBM Plex Sans" panose="00000700000000000000" pitchFamily="2" charset="0"/>
              </a:rPr>
              <a:t>SQL Query Image</a:t>
            </a:r>
            <a:endParaRPr lang="en-US" dirty="0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EFD1F94-6A29-6F43-F66E-8A1D29B07C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676400"/>
            <a:ext cx="9175955" cy="5068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373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488C668-1CD9-5F63-F35A-C96C55E98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/>
            </a:r>
            <a:br>
              <a:rPr lang="en-IN" b="1" dirty="0"/>
            </a:br>
            <a:r>
              <a:rPr lang="en-IN" b="1" dirty="0"/>
              <a:t>Advanced Visualization (Power BI)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2DD9499-4074-C2B7-6F03-A375965780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Imported cleaned data into Power BI for interactive dashboards.</a:t>
            </a:r>
          </a:p>
          <a:p>
            <a:r>
              <a:rPr lang="en-US" dirty="0"/>
              <a:t>Dashboards included filters </a:t>
            </a:r>
            <a:r>
              <a:rPr lang="en-US" dirty="0" smtClean="0"/>
              <a:t>for location, Months, </a:t>
            </a:r>
            <a:r>
              <a:rPr lang="en-US" dirty="0"/>
              <a:t>and </a:t>
            </a:r>
            <a:r>
              <a:rPr lang="en-US" dirty="0" smtClean="0"/>
              <a:t>Orders by Source, providing </a:t>
            </a:r>
            <a:r>
              <a:rPr lang="en-US" dirty="0"/>
              <a:t>dynamic insights.</a:t>
            </a:r>
          </a:p>
          <a:p>
            <a:r>
              <a:rPr lang="en-GB" dirty="0"/>
              <a:t>Designed KPIs such as Total Orders, Revenue, AOV, Delivery Time, Cancellation %, and Customer Satisfaction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/>
              <a:t>Used Data Analysis Expressions (DAX) to create complex calculated columns and measures for advanced analytics.</a:t>
            </a:r>
          </a:p>
          <a:p>
            <a:r>
              <a:rPr lang="en-US" dirty="0"/>
              <a:t>Enabled </a:t>
            </a:r>
            <a:r>
              <a:rPr lang="en-US" dirty="0" smtClean="0"/>
              <a:t>drill-down </a:t>
            </a:r>
            <a:r>
              <a:rPr lang="en-GB" dirty="0" smtClean="0"/>
              <a:t>visuals </a:t>
            </a:r>
            <a:r>
              <a:rPr lang="en-GB" dirty="0"/>
              <a:t>for location-wise demand, peak order hours, and revenue </a:t>
            </a:r>
            <a:r>
              <a:rPr lang="en-GB" dirty="0" smtClean="0"/>
              <a:t>trends.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6456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99221"/>
            <a:ext cx="9982200" cy="967580"/>
          </a:xfrm>
        </p:spPr>
        <p:txBody>
          <a:bodyPr/>
          <a:lstStyle/>
          <a:p>
            <a:r>
              <a:rPr lang="en-US" b="1" spc="-18" dirty="0">
                <a:solidFill>
                  <a:srgbClr val="FFFFFF">
                    <a:alpha val="100000"/>
                  </a:srgbClr>
                </a:solidFill>
                <a:latin typeface="IBM Plex Sans" panose="00000700000000000000" pitchFamily="2" charset="0"/>
              </a:rPr>
              <a:t>Power BI </a:t>
            </a:r>
            <a:r>
              <a:rPr lang="en-US" b="1" spc="-18" dirty="0" smtClean="0">
                <a:solidFill>
                  <a:srgbClr val="FFFFFF">
                    <a:alpha val="100000"/>
                  </a:srgbClr>
                </a:solidFill>
                <a:latin typeface="IBM Plex Sans" panose="00000700000000000000" pitchFamily="2" charset="0"/>
              </a:rPr>
              <a:t>Dashboard 1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524000"/>
            <a:ext cx="12115800" cy="5254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100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pc="-18" dirty="0">
                <a:solidFill>
                  <a:srgbClr val="FFFFFF">
                    <a:alpha val="100000"/>
                  </a:srgbClr>
                </a:solidFill>
                <a:latin typeface="IBM Plex Sans" panose="00000700000000000000" pitchFamily="2" charset="0"/>
              </a:rPr>
              <a:t>Power BI </a:t>
            </a:r>
            <a:r>
              <a:rPr lang="en-US" b="1" spc="-18" dirty="0" smtClean="0">
                <a:solidFill>
                  <a:srgbClr val="FFFFFF">
                    <a:alpha val="100000"/>
                  </a:srgbClr>
                </a:solidFill>
                <a:latin typeface="IBM Plex Sans" panose="00000700000000000000" pitchFamily="2" charset="0"/>
              </a:rPr>
              <a:t>Dashboard 2</a:t>
            </a:r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600200"/>
            <a:ext cx="12039600" cy="510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758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pc="-18" dirty="0">
                <a:solidFill>
                  <a:srgbClr val="FFFFFF">
                    <a:alpha val="100000"/>
                  </a:srgbClr>
                </a:solidFill>
                <a:latin typeface="IBM Plex Sans" panose="00000700000000000000" pitchFamily="2" charset="0"/>
              </a:rPr>
              <a:t>Power BI </a:t>
            </a:r>
            <a:r>
              <a:rPr lang="en-US" b="1" spc="-18" dirty="0" smtClean="0">
                <a:solidFill>
                  <a:srgbClr val="FFFFFF">
                    <a:alpha val="100000"/>
                  </a:srgbClr>
                </a:solidFill>
                <a:latin typeface="IBM Plex Sans" panose="00000700000000000000" pitchFamily="2" charset="0"/>
              </a:rPr>
              <a:t>Dashboard 3</a:t>
            </a:r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556238"/>
            <a:ext cx="12039600" cy="5228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066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562C718-7049-8BBD-3EEE-7C347D605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9400" y="2667000"/>
            <a:ext cx="5562600" cy="1958180"/>
          </a:xfrm>
        </p:spPr>
        <p:txBody>
          <a:bodyPr/>
          <a:lstStyle/>
          <a:p>
            <a:r>
              <a:rPr lang="en-IN" dirty="0"/>
              <a:t>Thank You😊</a:t>
            </a:r>
          </a:p>
        </p:txBody>
      </p:sp>
    </p:spTree>
    <p:extLst>
      <p:ext uri="{BB962C8B-B14F-4D97-AF65-F5344CB8AC3E}">
        <p14:creationId xmlns:p14="http://schemas.microsoft.com/office/powerpoint/2010/main" val="1274141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Medical Design 16x9">
  <a:themeElements>
    <a:clrScheme name="MedicalHealth">
      <a:dk1>
        <a:sysClr val="windowText" lastClr="000000"/>
      </a:dk1>
      <a:lt1>
        <a:sysClr val="window" lastClr="FFFFFF"/>
      </a:lt1>
      <a:dk2>
        <a:srgbClr val="656367"/>
      </a:dk2>
      <a:lt2>
        <a:srgbClr val="F2F2F2"/>
      </a:lt2>
      <a:accent1>
        <a:srgbClr val="B82D2F"/>
      </a:accent1>
      <a:accent2>
        <a:srgbClr val="333333"/>
      </a:accent2>
      <a:accent3>
        <a:srgbClr val="2B4A63"/>
      </a:accent3>
      <a:accent4>
        <a:srgbClr val="445E45"/>
      </a:accent4>
      <a:accent5>
        <a:srgbClr val="5A3A64"/>
      </a:accent5>
      <a:accent6>
        <a:srgbClr val="DB8526"/>
      </a:accent6>
      <a:hlink>
        <a:srgbClr val="164E6E"/>
      </a:hlink>
      <a:folHlink>
        <a:srgbClr val="667F6D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0001141.potx" id="{D7485564-6666-4DDB-B0D3-55F6E694D6E5}" vid="{6E950D30-6FC6-4411-BCFF-468AD9ECA787}"/>
    </a:ext>
  </a:extLst>
</a:theme>
</file>

<file path=ppt/theme/theme2.xml><?xml version="1.0" encoding="utf-8"?>
<a:theme xmlns:a="http://schemas.openxmlformats.org/drawingml/2006/main" name="Office Theme">
  <a:themeElements>
    <a:clrScheme name="MedicalHealth">
      <a:dk1>
        <a:sysClr val="windowText" lastClr="000000"/>
      </a:dk1>
      <a:lt1>
        <a:sysClr val="window" lastClr="FFFFFF"/>
      </a:lt1>
      <a:dk2>
        <a:srgbClr val="656367"/>
      </a:dk2>
      <a:lt2>
        <a:srgbClr val="F2F2F2"/>
      </a:lt2>
      <a:accent1>
        <a:srgbClr val="B82D2F"/>
      </a:accent1>
      <a:accent2>
        <a:srgbClr val="333333"/>
      </a:accent2>
      <a:accent3>
        <a:srgbClr val="2B4A63"/>
      </a:accent3>
      <a:accent4>
        <a:srgbClr val="445E45"/>
      </a:accent4>
      <a:accent5>
        <a:srgbClr val="5A3A64"/>
      </a:accent5>
      <a:accent6>
        <a:srgbClr val="DB8526"/>
      </a:accent6>
      <a:hlink>
        <a:srgbClr val="164E6E"/>
      </a:hlink>
      <a:folHlink>
        <a:srgbClr val="667F6D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MedicalHealth">
      <a:dk1>
        <a:sysClr val="windowText" lastClr="000000"/>
      </a:dk1>
      <a:lt1>
        <a:sysClr val="window" lastClr="FFFFFF"/>
      </a:lt1>
      <a:dk2>
        <a:srgbClr val="656367"/>
      </a:dk2>
      <a:lt2>
        <a:srgbClr val="F2F2F2"/>
      </a:lt2>
      <a:accent1>
        <a:srgbClr val="B82D2F"/>
      </a:accent1>
      <a:accent2>
        <a:srgbClr val="333333"/>
      </a:accent2>
      <a:accent3>
        <a:srgbClr val="2B4A63"/>
      </a:accent3>
      <a:accent4>
        <a:srgbClr val="445E45"/>
      </a:accent4>
      <a:accent5>
        <a:srgbClr val="5A3A64"/>
      </a:accent5>
      <a:accent6>
        <a:srgbClr val="DB8526"/>
      </a:accent6>
      <a:hlink>
        <a:srgbClr val="164E6E"/>
      </a:hlink>
      <a:folHlink>
        <a:srgbClr val="667F6D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Medical design presentation (widescreen)</Template>
  <TotalTime>249</TotalTime>
  <Words>748</Words>
  <Application>Microsoft Office PowerPoint</Application>
  <PresentationFormat>Widescreen</PresentationFormat>
  <Paragraphs>60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Franklin Gothic Medium</vt:lpstr>
      <vt:lpstr>IBM Plex Sans</vt:lpstr>
      <vt:lpstr>IBM Plex Serif SemiBold</vt:lpstr>
      <vt:lpstr>Times New Roman</vt:lpstr>
      <vt:lpstr>Medical Design 16x9</vt:lpstr>
      <vt:lpstr>Swiggy Analytics</vt:lpstr>
      <vt:lpstr>Project Summary</vt:lpstr>
      <vt:lpstr>KPI List - Key performance indicators and their business relevance</vt:lpstr>
      <vt:lpstr>PowerPoint Presentation</vt:lpstr>
      <vt:lpstr>What did in Excel</vt:lpstr>
      <vt:lpstr>Excel Dashboard 1</vt:lpstr>
      <vt:lpstr>Excel Dashboard 2</vt:lpstr>
      <vt:lpstr> Data Visualization &amp; Insights (Tableau) </vt:lpstr>
      <vt:lpstr>Tableau Dashboard</vt:lpstr>
      <vt:lpstr> Data Retrieval &amp; Management (SQL) </vt:lpstr>
      <vt:lpstr>SQL Query Image</vt:lpstr>
      <vt:lpstr> Advanced Visualization (Power BI) </vt:lpstr>
      <vt:lpstr>Power BI Dashboard 1</vt:lpstr>
      <vt:lpstr>Power BI Dashboard 2</vt:lpstr>
      <vt:lpstr>Power BI Dashboard 3</vt:lpstr>
      <vt:lpstr>Thank You😊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Swiggy Analytics</dc:title>
  <dc:creator>Kaviraj Shetty</dc:creator>
  <cp:lastModifiedBy>ADMIN</cp:lastModifiedBy>
  <cp:revision>26</cp:revision>
  <dcterms:created xsi:type="dcterms:W3CDTF">2025-08-02T10:30:38Z</dcterms:created>
  <dcterms:modified xsi:type="dcterms:W3CDTF">2025-12-14T09:30:43Z</dcterms:modified>
</cp:coreProperties>
</file>